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7757C80-0EEA-4783-9013-36EE4CE1747A}"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166477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757C80-0EEA-4783-9013-36EE4CE1747A}"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951459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757C80-0EEA-4783-9013-36EE4CE1747A}"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2603688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7757C80-0EEA-4783-9013-36EE4CE1747A}"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4086019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57757C80-0EEA-4783-9013-36EE4CE1747A}" type="datetimeFigureOut">
              <a:rPr lang="en-IN" smtClean="0"/>
              <a:t>03-08-2026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3585676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7757C80-0EEA-4783-9013-36EE4CE1747A}" type="datetimeFigureOut">
              <a:rPr lang="en-IN" smtClean="0"/>
              <a:t>03-08-2026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1514352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757C80-0EEA-4783-9013-36EE4CE1747A}" type="datetimeFigureOut">
              <a:rPr lang="en-IN" smtClean="0"/>
              <a:t>03-08-2026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1254573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757C80-0EEA-4783-9013-36EE4CE1747A}"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2932663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757C80-0EEA-4783-9013-36EE4CE1747A}"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22669499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757C80-0EEA-4783-9013-36EE4CE1747A}"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4119893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7757C80-0EEA-4783-9013-36EE4CE1747A}"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05A2CCD-0855-4FD2-8307-477244E78BF3}" type="slidenum">
              <a:rPr lang="en-IN" smtClean="0"/>
              <a:t>‹#›</a:t>
            </a:fld>
            <a:endParaRPr lang="en-IN"/>
          </a:p>
        </p:txBody>
      </p:sp>
    </p:spTree>
    <p:extLst>
      <p:ext uri="{BB962C8B-B14F-4D97-AF65-F5344CB8AC3E}">
        <p14:creationId xmlns:p14="http://schemas.microsoft.com/office/powerpoint/2010/main" val="3817573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757C80-0EEA-4783-9013-36EE4CE1747A}" type="datetimeFigureOut">
              <a:rPr lang="en-IN" smtClean="0"/>
              <a:t>03-08-2026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5A2CCD-0855-4FD2-8307-477244E78BF3}" type="slidenum">
              <a:rPr lang="en-IN" smtClean="0"/>
              <a:t>‹#›</a:t>
            </a:fld>
            <a:endParaRPr lang="en-IN"/>
          </a:p>
        </p:txBody>
      </p:sp>
    </p:spTree>
    <p:extLst>
      <p:ext uri="{BB962C8B-B14F-4D97-AF65-F5344CB8AC3E}">
        <p14:creationId xmlns:p14="http://schemas.microsoft.com/office/powerpoint/2010/main" val="24875267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39486" y="334979"/>
            <a:ext cx="6065822" cy="1446550"/>
          </a:xfrm>
          <a:prstGeom prst="rect">
            <a:avLst/>
          </a:prstGeom>
          <a:noFill/>
        </p:spPr>
        <p:txBody>
          <a:bodyPr wrap="square" rtlCol="0">
            <a:spAutoFit/>
          </a:bodyPr>
          <a:lstStyle/>
          <a:p>
            <a:r>
              <a:rPr lang="en-US" sz="8800" dirty="0">
                <a:latin typeface="Britannic Bold" panose="020B0903060703020204" pitchFamily="34" charset="0"/>
              </a:rPr>
              <a:t>AGRIASSIST</a:t>
            </a:r>
            <a:endParaRPr lang="en-IN" sz="8800" dirty="0">
              <a:latin typeface="Britannic Bold" panose="020B0903060703020204" pitchFamily="34" charset="0"/>
            </a:endParaRPr>
          </a:p>
        </p:txBody>
      </p:sp>
      <p:sp>
        <p:nvSpPr>
          <p:cNvPr id="3" name="Rectangle 2"/>
          <p:cNvSpPr/>
          <p:nvPr/>
        </p:nvSpPr>
        <p:spPr>
          <a:xfrm>
            <a:off x="7910059" y="3429000"/>
            <a:ext cx="4281941" cy="923330"/>
          </a:xfrm>
          <a:prstGeom prst="rect">
            <a:avLst/>
          </a:prstGeom>
        </p:spPr>
        <p:txBody>
          <a:bodyPr wrap="none">
            <a:spAutoFit/>
          </a:bodyPr>
          <a:lstStyle/>
          <a:p>
            <a:r>
              <a:rPr lang="en-IN" dirty="0"/>
              <a:t> By:</a:t>
            </a:r>
          </a:p>
          <a:p>
            <a:r>
              <a:rPr lang="en-US" dirty="0"/>
              <a:t>	Deepa </a:t>
            </a:r>
            <a:r>
              <a:rPr lang="en-US" dirty="0" err="1"/>
              <a:t>sri</a:t>
            </a:r>
            <a:r>
              <a:rPr lang="en-US" dirty="0"/>
              <a:t> </a:t>
            </a:r>
            <a:r>
              <a:rPr lang="en-US" dirty="0" err="1"/>
              <a:t>vadla</a:t>
            </a:r>
            <a:r>
              <a:rPr lang="en-US" dirty="0"/>
              <a:t>	[23911A0514]</a:t>
            </a:r>
            <a:endParaRPr lang="en-IN" dirty="0"/>
          </a:p>
          <a:p>
            <a:endParaRPr lang="en-IN" dirty="0"/>
          </a:p>
        </p:txBody>
      </p:sp>
      <p:sp>
        <p:nvSpPr>
          <p:cNvPr id="4" name="Rectangle 3"/>
          <p:cNvSpPr/>
          <p:nvPr/>
        </p:nvSpPr>
        <p:spPr>
          <a:xfrm>
            <a:off x="8401659" y="5236096"/>
            <a:ext cx="1485407" cy="646331"/>
          </a:xfrm>
          <a:prstGeom prst="rect">
            <a:avLst/>
          </a:prstGeom>
        </p:spPr>
        <p:txBody>
          <a:bodyPr wrap="none">
            <a:spAutoFit/>
          </a:bodyPr>
          <a:lstStyle/>
          <a:p>
            <a:r>
              <a:rPr lang="en-IN" dirty="0"/>
              <a:t>Guide:</a:t>
            </a:r>
          </a:p>
          <a:p>
            <a:r>
              <a:rPr lang="en-US" dirty="0" err="1"/>
              <a:t>Ms.G.Surekha</a:t>
            </a:r>
            <a:endParaRPr lang="en-IN" dirty="0"/>
          </a:p>
        </p:txBody>
      </p:sp>
      <p:pic>
        <p:nvPicPr>
          <p:cNvPr id="1026" name="Picture 2" descr="Free Group of farmers working in a flooded rice field during planting season in a rural area. Stock Pho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54864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81438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5501" y="90535"/>
            <a:ext cx="4621778" cy="1446550"/>
          </a:xfrm>
          <a:prstGeom prst="rect">
            <a:avLst/>
          </a:prstGeom>
        </p:spPr>
        <p:txBody>
          <a:bodyPr wrap="none">
            <a:spAutoFit/>
          </a:bodyPr>
          <a:lstStyle/>
          <a:p>
            <a:r>
              <a:rPr lang="en-IN" sz="8800" dirty="0">
                <a:latin typeface="Britannic Bold" panose="020B0903060703020204" pitchFamily="34" charset="0"/>
              </a:rPr>
              <a:t>Abstract:</a:t>
            </a:r>
          </a:p>
        </p:txBody>
      </p:sp>
      <p:sp>
        <p:nvSpPr>
          <p:cNvPr id="3" name="Rectangle 2"/>
          <p:cNvSpPr/>
          <p:nvPr/>
        </p:nvSpPr>
        <p:spPr>
          <a:xfrm>
            <a:off x="675500" y="1644729"/>
            <a:ext cx="5182091" cy="4801314"/>
          </a:xfrm>
          <a:prstGeom prst="rect">
            <a:avLst/>
          </a:prstGeom>
        </p:spPr>
        <p:txBody>
          <a:bodyPr wrap="square">
            <a:spAutoFit/>
          </a:bodyPr>
          <a:lstStyle/>
          <a:p>
            <a:r>
              <a:rPr lang="en-IN" dirty="0" err="1"/>
              <a:t>AgriAssist</a:t>
            </a:r>
            <a:r>
              <a:rPr lang="en-IN" dirty="0"/>
              <a:t> is a web-based application developed to assist farmers by providing essential agricultural insights, improving their decision-making process. The application includes a secure user authentication system to ensure data privacy and personalization. Key features include real-time weather updates, soil analysis for optimized crop selection, market price tracking for various crops, and an AI-powered crop recommendation system. The application supports multiple languages, including English, Hindi, Tamil, Telugu, and Malayalam, making it accessible to a broader audience. With a user-friendly interface and responsive design, </a:t>
            </a:r>
            <a:r>
              <a:rPr lang="en-IN" dirty="0" err="1"/>
              <a:t>AgriAssist</a:t>
            </a:r>
            <a:r>
              <a:rPr lang="en-IN" dirty="0"/>
              <a:t> ensures seamless navigation and usability. By leveraging AI and cloud computing, the platform enhances agricultural productivity and reduces uncertainties associated with farming decisions.</a:t>
            </a:r>
          </a:p>
        </p:txBody>
      </p:sp>
      <p:pic>
        <p:nvPicPr>
          <p:cNvPr id="2050" name="Picture 2" descr="https://media.istockphoto.com/id/1085625510/photo/technology-nature.jpg?b=1&amp;s=612x612&amp;w=0&amp;k=20&amp;c=OsCL_0LGZdHx9mpkED_2-v5XuSyXV2YKy6wuVQMsxo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130" y="1644729"/>
            <a:ext cx="5829300" cy="388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7528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3167" y="292904"/>
            <a:ext cx="6873998" cy="1107996"/>
          </a:xfrm>
          <a:prstGeom prst="rect">
            <a:avLst/>
          </a:prstGeom>
        </p:spPr>
        <p:txBody>
          <a:bodyPr wrap="none">
            <a:spAutoFit/>
          </a:bodyPr>
          <a:lstStyle/>
          <a:p>
            <a:r>
              <a:rPr lang="en-IN" sz="6600" dirty="0">
                <a:latin typeface="Britannic Bold" panose="020B0903060703020204" pitchFamily="34" charset="0"/>
              </a:rPr>
              <a:t>Literature Survey:</a:t>
            </a:r>
          </a:p>
        </p:txBody>
      </p:sp>
      <p:sp>
        <p:nvSpPr>
          <p:cNvPr id="3" name="Rectangle 2"/>
          <p:cNvSpPr/>
          <p:nvPr/>
        </p:nvSpPr>
        <p:spPr>
          <a:xfrm>
            <a:off x="578023" y="1824087"/>
            <a:ext cx="6096000" cy="3970318"/>
          </a:xfrm>
          <a:prstGeom prst="rect">
            <a:avLst/>
          </a:prstGeom>
        </p:spPr>
        <p:txBody>
          <a:bodyPr>
            <a:spAutoFit/>
          </a:bodyPr>
          <a:lstStyle/>
          <a:p>
            <a:r>
              <a:rPr lang="en-IN" dirty="0"/>
              <a:t>Traditional farming methods heavily rely on personal experience rather than data-driven insights, leading to inconsistent yields. Existing agricultural applications primarily focus on weather forecasts or crop prices but often lack integrated soil analysis and AI-driven recommendations. Several research papers emphasize the importance of a unified agricultural platform that combines weather, soil, and market data to enhance decision-making. </a:t>
            </a:r>
            <a:r>
              <a:rPr lang="en-IN" dirty="0" err="1"/>
              <a:t>AgriAssist</a:t>
            </a:r>
            <a:r>
              <a:rPr lang="en-IN" dirty="0"/>
              <a:t> addresses these challenges by integrating real-time weather data, soil analysis, and AI-based crop recommendations into a single platform, thereby empowering farmers with scientifically backed insights. Furthermore, its multilingual support ensures that farmers across diverse linguistic backgrounds can easily access and understand critical agricultural information.</a:t>
            </a:r>
          </a:p>
        </p:txBody>
      </p:sp>
      <p:pic>
        <p:nvPicPr>
          <p:cNvPr id="3074" name="Picture 2" descr="Free An elderly farmer manually spreading fertilizer in a lush green rice field under a clear sky. Stock Pho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7165" y="165226"/>
            <a:ext cx="4762500" cy="63985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6355013"/>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6158" y="265743"/>
            <a:ext cx="5918608" cy="1200329"/>
          </a:xfrm>
          <a:prstGeom prst="rect">
            <a:avLst/>
          </a:prstGeom>
        </p:spPr>
        <p:txBody>
          <a:bodyPr wrap="none">
            <a:spAutoFit/>
          </a:bodyPr>
          <a:lstStyle/>
          <a:p>
            <a:r>
              <a:rPr lang="en-IN" sz="7200" dirty="0">
                <a:latin typeface="Britannic Bold" panose="020B0903060703020204" pitchFamily="34" charset="0"/>
              </a:rPr>
              <a:t>Existing work:</a:t>
            </a:r>
          </a:p>
        </p:txBody>
      </p:sp>
      <p:sp>
        <p:nvSpPr>
          <p:cNvPr id="3" name="Rectangle 2"/>
          <p:cNvSpPr/>
          <p:nvPr/>
        </p:nvSpPr>
        <p:spPr>
          <a:xfrm>
            <a:off x="5676158" y="1905567"/>
            <a:ext cx="6096000" cy="3970318"/>
          </a:xfrm>
          <a:prstGeom prst="rect">
            <a:avLst/>
          </a:prstGeom>
        </p:spPr>
        <p:txBody>
          <a:bodyPr>
            <a:spAutoFit/>
          </a:bodyPr>
          <a:lstStyle/>
          <a:p>
            <a:r>
              <a:rPr lang="en-IN" dirty="0"/>
              <a:t>The development of </a:t>
            </a:r>
            <a:r>
              <a:rPr lang="en-IN" dirty="0" err="1"/>
              <a:t>AgriAssist</a:t>
            </a:r>
            <a:r>
              <a:rPr lang="en-IN" dirty="0"/>
              <a:t> requires a robust technological stack. The frontend is developed using React.js for the web version and </a:t>
            </a:r>
            <a:r>
              <a:rPr lang="en-IN" dirty="0" err="1"/>
              <a:t>Thunkable</a:t>
            </a:r>
            <a:r>
              <a:rPr lang="en-IN" dirty="0"/>
              <a:t> for mobile applications. The backend utilizes Python with Flask/</a:t>
            </a:r>
            <a:r>
              <a:rPr lang="en-IN" dirty="0" err="1"/>
              <a:t>Django</a:t>
            </a:r>
            <a:r>
              <a:rPr lang="en-IN" dirty="0"/>
              <a:t> or Node.js to manage authentication, data processing, and AI-driven recommendations. Firebase or MySQL serves as the database for storing user data and historical records. Essential APIs such as </a:t>
            </a:r>
            <a:r>
              <a:rPr lang="en-IN" dirty="0" err="1"/>
              <a:t>OpenWeather</a:t>
            </a:r>
            <a:r>
              <a:rPr lang="en-IN" dirty="0"/>
              <a:t> API and Soil Data API facilitate real-time data retrieval. The hardware requirements include a system with a minimum of 4GB RAM for development, while end-users require a smartphone or desktop with internet connectivity. Future enhancements may involve integrating </a:t>
            </a:r>
            <a:r>
              <a:rPr lang="en-IN" dirty="0" err="1"/>
              <a:t>IoT</a:t>
            </a:r>
            <a:r>
              <a:rPr lang="en-IN" dirty="0"/>
              <a:t> sensors for real-time soil moisture and temperature monitoring, further improving agricultural decision-making.</a:t>
            </a:r>
          </a:p>
        </p:txBody>
      </p:sp>
      <p:pic>
        <p:nvPicPr>
          <p:cNvPr id="4098" name="Picture 2" descr="https://media.istockphoto.com/id/1370317531/photo/man-farmer-using-digital-tablet-in-a-farm-while-inspecting-crops.jpg?b=1&amp;s=612x612&amp;w=0&amp;k=20&amp;c=IfRNH_w64jiAG1ZMqaH-G5a3MNGkunlGgZry4lnbx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482" y="1735262"/>
            <a:ext cx="5311732" cy="3876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244387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4181" y="374386"/>
            <a:ext cx="6032421" cy="1107996"/>
          </a:xfrm>
          <a:prstGeom prst="rect">
            <a:avLst/>
          </a:prstGeom>
        </p:spPr>
        <p:txBody>
          <a:bodyPr wrap="none">
            <a:spAutoFit/>
          </a:bodyPr>
          <a:lstStyle/>
          <a:p>
            <a:r>
              <a:rPr lang="en-IN" sz="6600" dirty="0">
                <a:latin typeface="Britannic Bold" panose="020B0903060703020204" pitchFamily="34" charset="0"/>
              </a:rPr>
              <a:t>Proposed work:</a:t>
            </a:r>
          </a:p>
        </p:txBody>
      </p:sp>
      <p:sp>
        <p:nvSpPr>
          <p:cNvPr id="3" name="Rectangle 2"/>
          <p:cNvSpPr/>
          <p:nvPr/>
        </p:nvSpPr>
        <p:spPr>
          <a:xfrm>
            <a:off x="504181" y="2155407"/>
            <a:ext cx="6096000" cy="3416320"/>
          </a:xfrm>
          <a:prstGeom prst="rect">
            <a:avLst/>
          </a:prstGeom>
        </p:spPr>
        <p:txBody>
          <a:bodyPr>
            <a:spAutoFit/>
          </a:bodyPr>
          <a:lstStyle/>
          <a:p>
            <a:r>
              <a:rPr lang="en-IN" dirty="0" err="1"/>
              <a:t>AgriAssist</a:t>
            </a:r>
            <a:r>
              <a:rPr lang="en-IN" dirty="0"/>
              <a:t> aims to transform traditional farming methods by providing farmers with real-time, data-driven insights. The project’s scope includes delivering accurate weather forecasts, soil analysis, and crop recommendations while reducing dependency on intermediaries by offering direct access to market price trends. The primary objectives of </a:t>
            </a:r>
            <a:r>
              <a:rPr lang="en-IN" dirty="0" err="1"/>
              <a:t>AgriAssist</a:t>
            </a:r>
            <a:r>
              <a:rPr lang="en-IN" dirty="0"/>
              <a:t> are to develop an interactive web and mobile platform, integrate AI for precise agricultural analysis, ensure multilingual accessibility, and facilitate efficient farm management through digital record-keeping. By achieving these goals, </a:t>
            </a:r>
            <a:r>
              <a:rPr lang="en-IN" dirty="0" err="1"/>
              <a:t>AgriAssist</a:t>
            </a:r>
            <a:r>
              <a:rPr lang="en-IN" dirty="0"/>
              <a:t> seeks to optimize farming practices, increase productivity, and empower farmers with innovative agricultural solutions.</a:t>
            </a:r>
          </a:p>
        </p:txBody>
      </p:sp>
      <p:pic>
        <p:nvPicPr>
          <p:cNvPr id="5122" name="Picture 2" descr="An Indian farmer along with his wife using a drone in the agricultural field An Indian farmer along with his wife using a drone in the agricultural field indian smart agriculture stock illustra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44832" y="1482382"/>
            <a:ext cx="5242491" cy="388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895230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1229" y="419654"/>
            <a:ext cx="3812262" cy="1107996"/>
          </a:xfrm>
          <a:prstGeom prst="rect">
            <a:avLst/>
          </a:prstGeom>
        </p:spPr>
        <p:txBody>
          <a:bodyPr wrap="none">
            <a:spAutoFit/>
          </a:bodyPr>
          <a:lstStyle/>
          <a:p>
            <a:r>
              <a:rPr lang="en-IN" sz="6600" dirty="0">
                <a:latin typeface="Britannic Bold" panose="020B0903060703020204" pitchFamily="34" charset="0"/>
              </a:rPr>
              <a:t>Objective:</a:t>
            </a:r>
          </a:p>
        </p:txBody>
      </p:sp>
      <p:sp>
        <p:nvSpPr>
          <p:cNvPr id="3" name="Rectangle 2"/>
          <p:cNvSpPr/>
          <p:nvPr/>
        </p:nvSpPr>
        <p:spPr>
          <a:xfrm>
            <a:off x="661229" y="2783569"/>
            <a:ext cx="5241630" cy="2031325"/>
          </a:xfrm>
          <a:prstGeom prst="rect">
            <a:avLst/>
          </a:prstGeom>
        </p:spPr>
        <p:txBody>
          <a:bodyPr wrap="square">
            <a:spAutoFit/>
          </a:bodyPr>
          <a:lstStyle/>
          <a:p>
            <a:pPr marL="285750" indent="-285750">
              <a:buFontTx/>
              <a:buChar char="-"/>
            </a:pPr>
            <a:r>
              <a:rPr lang="en-IN" dirty="0"/>
              <a:t>Develop a web and mobile application for farmers.  </a:t>
            </a:r>
          </a:p>
          <a:p>
            <a:pPr marL="285750" indent="-285750">
              <a:buFontTx/>
              <a:buChar char="-"/>
            </a:pPr>
            <a:r>
              <a:rPr lang="en-IN" dirty="0"/>
              <a:t> Integrate AI to </a:t>
            </a:r>
            <a:r>
              <a:rPr lang="en-IN" dirty="0" err="1"/>
              <a:t>analyze</a:t>
            </a:r>
            <a:r>
              <a:rPr lang="en-IN" dirty="0"/>
              <a:t> soil, weather, and crop data.  </a:t>
            </a:r>
          </a:p>
          <a:p>
            <a:pPr marL="285750" indent="-285750">
              <a:buFontTx/>
              <a:buChar char="-"/>
            </a:pPr>
            <a:r>
              <a:rPr lang="en-IN" dirty="0"/>
              <a:t> Provide a multilingual interface for easy accessibility. </a:t>
            </a:r>
          </a:p>
          <a:p>
            <a:pPr marL="285750" indent="-285750">
              <a:buFontTx/>
              <a:buChar char="-"/>
            </a:pPr>
            <a:r>
              <a:rPr lang="en-IN" dirty="0"/>
              <a:t> Enable seamless farm management with digital record-keeping. </a:t>
            </a:r>
          </a:p>
        </p:txBody>
      </p:sp>
      <p:pic>
        <p:nvPicPr>
          <p:cNvPr id="6146" name="Picture 2" descr="young indian farmer with smartphone at field young indian farmer with smartphone at field indian framer using mobie for architecture in the frame stock pictures, royalty-free photos &amp; imag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6953" y="1527650"/>
            <a:ext cx="5829300" cy="3886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2217141"/>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09316" y="808951"/>
            <a:ext cx="6582684" cy="1015663"/>
          </a:xfrm>
          <a:prstGeom prst="rect">
            <a:avLst/>
          </a:prstGeom>
        </p:spPr>
        <p:txBody>
          <a:bodyPr wrap="square">
            <a:spAutoFit/>
          </a:bodyPr>
          <a:lstStyle/>
          <a:p>
            <a:r>
              <a:rPr lang="en-US" sz="6000" b="1" dirty="0">
                <a:latin typeface="Britannic Bold" panose="020B0903060703020204" pitchFamily="34" charset="0"/>
              </a:rPr>
              <a:t>LIST OF MODULES:</a:t>
            </a:r>
            <a:endParaRPr lang="en-IN" sz="6000" dirty="0">
              <a:latin typeface="Britannic Bold" panose="020B0903060703020204" pitchFamily="34" charset="0"/>
            </a:endParaRPr>
          </a:p>
        </p:txBody>
      </p:sp>
      <p:sp>
        <p:nvSpPr>
          <p:cNvPr id="3" name="Rectangle 2"/>
          <p:cNvSpPr/>
          <p:nvPr/>
        </p:nvSpPr>
        <p:spPr>
          <a:xfrm>
            <a:off x="6370862" y="2873978"/>
            <a:ext cx="6096000" cy="2031325"/>
          </a:xfrm>
          <a:prstGeom prst="rect">
            <a:avLst/>
          </a:prstGeom>
        </p:spPr>
        <p:txBody>
          <a:bodyPr>
            <a:spAutoFit/>
          </a:bodyPr>
          <a:lstStyle/>
          <a:p>
            <a:r>
              <a:rPr lang="en-US" b="1" dirty="0"/>
              <a:t>*Client-Server Model</a:t>
            </a:r>
            <a:r>
              <a:rPr lang="en-US" dirty="0"/>
              <a:t>:* The app and website interact with a cloud-based backend for data processing.</a:t>
            </a:r>
          </a:p>
          <a:p>
            <a:r>
              <a:rPr lang="en-US" b="1" dirty="0"/>
              <a:t>Data Flow</a:t>
            </a:r>
            <a:r>
              <a:rPr lang="en-US" dirty="0"/>
              <a:t>: </a:t>
            </a:r>
          </a:p>
          <a:p>
            <a:r>
              <a:rPr lang="en-US" dirty="0"/>
              <a:t> 1. User inputs location and soil details.</a:t>
            </a:r>
          </a:p>
          <a:p>
            <a:r>
              <a:rPr lang="en-US" dirty="0"/>
              <a:t>  2. System fetches weather and soil data using APIs.   </a:t>
            </a:r>
          </a:p>
          <a:p>
            <a:r>
              <a:rPr lang="en-US" dirty="0"/>
              <a:t> 3. AI processes data to recommend best-suited crops.  </a:t>
            </a:r>
          </a:p>
          <a:p>
            <a:r>
              <a:rPr lang="en-US" dirty="0"/>
              <a:t>  4. Market module updates prices and trends for farmers. </a:t>
            </a:r>
            <a:endParaRPr lang="en-IN" dirty="0"/>
          </a:p>
        </p:txBody>
      </p:sp>
      <p:pic>
        <p:nvPicPr>
          <p:cNvPr id="7170" name="Picture 2" descr="Vector Smart Farm Poster Concepts Outline Stock Vector (Royalty Free) 1951764232 | Shutter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019" y="2578021"/>
            <a:ext cx="5508446" cy="3098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62535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3123" y="491117"/>
            <a:ext cx="7093609" cy="923330"/>
          </a:xfrm>
          <a:prstGeom prst="rect">
            <a:avLst/>
          </a:prstGeom>
        </p:spPr>
        <p:txBody>
          <a:bodyPr wrap="none">
            <a:spAutoFit/>
          </a:bodyPr>
          <a:lstStyle/>
          <a:p>
            <a:r>
              <a:rPr lang="en-US" sz="5400" b="1" dirty="0">
                <a:latin typeface="Britannic Bold" panose="020B0903060703020204" pitchFamily="34" charset="0"/>
              </a:rPr>
              <a:t> TECHNOLOGIES USED:</a:t>
            </a:r>
            <a:endParaRPr lang="en-IN" sz="5400" dirty="0">
              <a:latin typeface="Britannic Bold" panose="020B0903060703020204" pitchFamily="34" charset="0"/>
            </a:endParaRPr>
          </a:p>
        </p:txBody>
      </p:sp>
      <p:sp>
        <p:nvSpPr>
          <p:cNvPr id="3" name="Rectangle 2"/>
          <p:cNvSpPr/>
          <p:nvPr/>
        </p:nvSpPr>
        <p:spPr>
          <a:xfrm>
            <a:off x="700267" y="1835838"/>
            <a:ext cx="6096000" cy="3693319"/>
          </a:xfrm>
          <a:prstGeom prst="rect">
            <a:avLst/>
          </a:prstGeom>
        </p:spPr>
        <p:txBody>
          <a:bodyPr>
            <a:spAutoFit/>
          </a:bodyPr>
          <a:lstStyle/>
          <a:p>
            <a:r>
              <a:rPr lang="en-IN" b="1" dirty="0"/>
              <a:t> FRONTEND</a:t>
            </a:r>
            <a:r>
              <a:rPr lang="en-IN" dirty="0"/>
              <a:t>: </a:t>
            </a:r>
          </a:p>
          <a:p>
            <a:r>
              <a:rPr lang="en-IN" dirty="0"/>
              <a:t>	 React.js (Website)  - </a:t>
            </a:r>
            <a:r>
              <a:rPr lang="en-IN" dirty="0" err="1"/>
              <a:t>Thunkable</a:t>
            </a:r>
            <a:r>
              <a:rPr lang="en-IN" dirty="0"/>
              <a:t> (Mobile App) </a:t>
            </a:r>
          </a:p>
          <a:p>
            <a:r>
              <a:rPr lang="en-IN" b="1" dirty="0"/>
              <a:t>  BACKEND</a:t>
            </a:r>
            <a:r>
              <a:rPr lang="en-IN" dirty="0"/>
              <a:t>:</a:t>
            </a:r>
          </a:p>
          <a:p>
            <a:r>
              <a:rPr lang="en-IN" dirty="0"/>
              <a:t> 	Python (Flask/</a:t>
            </a:r>
            <a:r>
              <a:rPr lang="en-IN" dirty="0" err="1"/>
              <a:t>Django</a:t>
            </a:r>
            <a:r>
              <a:rPr lang="en-IN" dirty="0"/>
              <a:t>) or Node.js </a:t>
            </a:r>
          </a:p>
          <a:p>
            <a:r>
              <a:rPr lang="en-IN" dirty="0"/>
              <a:t>  </a:t>
            </a:r>
            <a:r>
              <a:rPr lang="en-IN" b="1" dirty="0"/>
              <a:t>DATABASE</a:t>
            </a:r>
            <a:r>
              <a:rPr lang="en-IN" dirty="0"/>
              <a:t>:</a:t>
            </a:r>
          </a:p>
          <a:p>
            <a:r>
              <a:rPr lang="en-IN" dirty="0"/>
              <a:t>	Firebase / MySQL </a:t>
            </a:r>
          </a:p>
          <a:p>
            <a:r>
              <a:rPr lang="en-IN" dirty="0"/>
              <a:t>  </a:t>
            </a:r>
            <a:r>
              <a:rPr lang="en-IN" b="1" dirty="0"/>
              <a:t>APIS &amp; EXTERNAL SERVICES</a:t>
            </a:r>
            <a:r>
              <a:rPr lang="en-IN" dirty="0"/>
              <a:t>:  </a:t>
            </a:r>
          </a:p>
          <a:p>
            <a:r>
              <a:rPr lang="en-IN" dirty="0"/>
              <a:t>	 </a:t>
            </a:r>
            <a:r>
              <a:rPr lang="en-IN" dirty="0" err="1"/>
              <a:t>OpenWeather</a:t>
            </a:r>
            <a:r>
              <a:rPr lang="en-IN" dirty="0"/>
              <a:t> API (for real-time weather data)  - Soil Data API (for soil analysis)  - Google Translate API (for multilingual support) </a:t>
            </a:r>
          </a:p>
          <a:p>
            <a:r>
              <a:rPr lang="en-IN" dirty="0"/>
              <a:t>  </a:t>
            </a:r>
            <a:r>
              <a:rPr lang="en-IN" b="1" dirty="0"/>
              <a:t>AI/ML INTEGRATION</a:t>
            </a:r>
            <a:r>
              <a:rPr lang="en-IN" dirty="0"/>
              <a:t>:</a:t>
            </a:r>
          </a:p>
          <a:p>
            <a:r>
              <a:rPr lang="en-IN" dirty="0"/>
              <a:t> 	Machine Learning for crop prediction  - Data analytics for soil and weather trend analysis </a:t>
            </a:r>
          </a:p>
        </p:txBody>
      </p:sp>
      <p:sp>
        <p:nvSpPr>
          <p:cNvPr id="5" name="AutoShape 4" descr="Precision agriculture FAQ: Answering common questions | HEMAV"/>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6" descr="Precision agriculture FAQ: Answering common questions | HEMAV"/>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3" descr="Growing young maize seedling in a mobile smartphone on hand with modern agriculture digital technology concepts Growing young maize seedling in a mobile smartphone on hand with modern agriculture digital technology concepts agriculture new technologies images stock pictures, royalty-free photos &amp; images">
            <a:extLst>
              <a:ext uri="{FF2B5EF4-FFF2-40B4-BE49-F238E27FC236}">
                <a16:creationId xmlns:a16="http://schemas.microsoft.com/office/drawing/2014/main" id="{3359368E-E866-F114-E6B9-0493CB39AF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1206" y="1511346"/>
            <a:ext cx="4336026" cy="4473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13092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241" y="609775"/>
            <a:ext cx="5001690" cy="1015663"/>
          </a:xfrm>
          <a:prstGeom prst="rect">
            <a:avLst/>
          </a:prstGeom>
        </p:spPr>
        <p:txBody>
          <a:bodyPr wrap="none">
            <a:spAutoFit/>
          </a:bodyPr>
          <a:lstStyle/>
          <a:p>
            <a:r>
              <a:rPr lang="en-US" sz="6000" b="1" dirty="0">
                <a:latin typeface="Britannic Bold" panose="020B0903060703020204" pitchFamily="34" charset="0"/>
              </a:rPr>
              <a:t> CONCLUSION:</a:t>
            </a:r>
            <a:endParaRPr lang="en-IN" sz="6000" dirty="0">
              <a:latin typeface="Britannic Bold" panose="020B0903060703020204" pitchFamily="34" charset="0"/>
            </a:endParaRPr>
          </a:p>
        </p:txBody>
      </p:sp>
      <p:sp>
        <p:nvSpPr>
          <p:cNvPr id="3" name="Rectangle 2"/>
          <p:cNvSpPr/>
          <p:nvPr/>
        </p:nvSpPr>
        <p:spPr>
          <a:xfrm>
            <a:off x="386928" y="2206069"/>
            <a:ext cx="6096000" cy="2862322"/>
          </a:xfrm>
          <a:prstGeom prst="rect">
            <a:avLst/>
          </a:prstGeom>
        </p:spPr>
        <p:txBody>
          <a:bodyPr>
            <a:spAutoFit/>
          </a:bodyPr>
          <a:lstStyle/>
          <a:p>
            <a:r>
              <a:rPr lang="en-US" dirty="0" err="1"/>
              <a:t>AgriAssist</a:t>
            </a:r>
            <a:r>
              <a:rPr lang="en-US" dirty="0"/>
              <a:t>  is  a  </a:t>
            </a:r>
            <a:r>
              <a:rPr lang="en-US" b="1" dirty="0"/>
              <a:t>smart, data-driven agricultural platform  </a:t>
            </a:r>
            <a:r>
              <a:rPr lang="en-US" dirty="0"/>
              <a:t>that  helps farmers make  informed decisions about  crop selection, soil  health, and market  trends. By integrating  AI, </a:t>
            </a:r>
            <a:r>
              <a:rPr lang="en-US" dirty="0" err="1"/>
              <a:t>IoT</a:t>
            </a:r>
            <a:r>
              <a:rPr lang="en-US" dirty="0"/>
              <a:t>, and cloud technologies, it aims  to  increase farm productivity and  reduce losses.</a:t>
            </a:r>
          </a:p>
          <a:p>
            <a:r>
              <a:rPr lang="en-US" dirty="0"/>
              <a:t>  </a:t>
            </a:r>
          </a:p>
          <a:p>
            <a:r>
              <a:rPr lang="en-US" dirty="0"/>
              <a:t> </a:t>
            </a:r>
            <a:r>
              <a:rPr lang="en-US" b="1" dirty="0"/>
              <a:t>FUTURE</a:t>
            </a:r>
            <a:r>
              <a:rPr lang="en-US" dirty="0"/>
              <a:t> </a:t>
            </a:r>
            <a:r>
              <a:rPr lang="en-US" b="1" dirty="0"/>
              <a:t>ENHANCEMENTS</a:t>
            </a:r>
            <a:r>
              <a:rPr lang="en-US" dirty="0"/>
              <a:t>:</a:t>
            </a:r>
          </a:p>
          <a:p>
            <a:r>
              <a:rPr lang="en-US" dirty="0"/>
              <a:t> AI-based  pest detection and disease prediction. </a:t>
            </a:r>
          </a:p>
          <a:p>
            <a:r>
              <a:rPr lang="en-US" dirty="0"/>
              <a:t> </a:t>
            </a:r>
            <a:r>
              <a:rPr lang="en-US" dirty="0" err="1"/>
              <a:t>lockchain</a:t>
            </a:r>
            <a:r>
              <a:rPr lang="en-US" dirty="0"/>
              <a:t> integration for supply chain transparency. </a:t>
            </a:r>
          </a:p>
          <a:p>
            <a:r>
              <a:rPr lang="en-US" dirty="0"/>
              <a:t> Voice assistant feature  for better accessibility.</a:t>
            </a:r>
            <a:endParaRPr lang="en-IN" dirty="0"/>
          </a:p>
        </p:txBody>
      </p:sp>
      <p:pic>
        <p:nvPicPr>
          <p:cNvPr id="9240" name="Picture 24" descr="https://encrypted-tbn2.gstatic.com/images?q=tbn:ANd9GcQUhMyxWlnLueH7jrl-Tl9sDThOKi2KNWR365HvZ3_wtxV5Mn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2805" y="1727636"/>
            <a:ext cx="5709072" cy="34690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98982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646391" y="645990"/>
            <a:ext cx="4751622" cy="1015663"/>
          </a:xfrm>
          <a:prstGeom prst="rect">
            <a:avLst/>
          </a:prstGeom>
        </p:spPr>
        <p:txBody>
          <a:bodyPr wrap="none">
            <a:spAutoFit/>
          </a:bodyPr>
          <a:lstStyle/>
          <a:p>
            <a:r>
              <a:rPr lang="en-US" sz="6000" b="1" dirty="0">
                <a:latin typeface="Britannic Bold" panose="020B0903060703020204" pitchFamily="34" charset="0"/>
              </a:rPr>
              <a:t>REFERENCES:</a:t>
            </a:r>
            <a:endParaRPr lang="en-IN" sz="6000" dirty="0">
              <a:latin typeface="Britannic Bold" panose="020B0903060703020204" pitchFamily="34" charset="0"/>
            </a:endParaRPr>
          </a:p>
        </p:txBody>
      </p:sp>
      <p:sp>
        <p:nvSpPr>
          <p:cNvPr id="3" name="Rectangle 2"/>
          <p:cNvSpPr/>
          <p:nvPr/>
        </p:nvSpPr>
        <p:spPr>
          <a:xfrm>
            <a:off x="6096000" y="2484804"/>
            <a:ext cx="6096000" cy="3046988"/>
          </a:xfrm>
          <a:prstGeom prst="rect">
            <a:avLst/>
          </a:prstGeom>
        </p:spPr>
        <p:txBody>
          <a:bodyPr>
            <a:spAutoFit/>
          </a:bodyPr>
          <a:lstStyle/>
          <a:p>
            <a:r>
              <a:rPr lang="en-US" sz="2400" dirty="0"/>
              <a:t>- Research papers on  precision farming  and AI in agriculture. </a:t>
            </a:r>
          </a:p>
          <a:p>
            <a:r>
              <a:rPr lang="en-US" sz="2400" dirty="0"/>
              <a:t> -  Government reports on  agricultural challenges and solutions.</a:t>
            </a:r>
          </a:p>
          <a:p>
            <a:r>
              <a:rPr lang="en-US" sz="2400" dirty="0"/>
              <a:t>  - API Documentation: </a:t>
            </a:r>
            <a:r>
              <a:rPr lang="en-US" sz="2400" dirty="0" err="1"/>
              <a:t>OpenWeather</a:t>
            </a:r>
            <a:r>
              <a:rPr lang="en-US" sz="2400" dirty="0"/>
              <a:t>, Soil Data API, Firebase. </a:t>
            </a:r>
          </a:p>
          <a:p>
            <a:r>
              <a:rPr lang="en-US" sz="2400" dirty="0"/>
              <a:t>  - Articles on market trends in agriculture technology. </a:t>
            </a:r>
            <a:endParaRPr lang="en-IN" sz="2400" dirty="0"/>
          </a:p>
        </p:txBody>
      </p:sp>
      <p:pic>
        <p:nvPicPr>
          <p:cNvPr id="10242" name="Picture 2" descr="Free Close-up of hands planting seedlings in a rural field in India, symbolizing growth and agriculture. Stock Pho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912" y="201440"/>
            <a:ext cx="4762500" cy="6461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55035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831</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Britannic Bold</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Jay Laptop</dc:creator>
  <cp:lastModifiedBy>welcome</cp:lastModifiedBy>
  <cp:revision>12</cp:revision>
  <dcterms:created xsi:type="dcterms:W3CDTF">2025-02-13T16:42:12Z</dcterms:created>
  <dcterms:modified xsi:type="dcterms:W3CDTF">2026-08-03T16:07:03Z</dcterms:modified>
</cp:coreProperties>
</file>